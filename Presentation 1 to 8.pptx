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7906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90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5964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0755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6186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4969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731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0535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7367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9203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341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4747F-D400-4A90-89D9-3448D815F5DF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9632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Development &amp; Version Control</a:t>
            </a:r>
          </a:p>
          <a:p>
            <a:r>
              <a:rPr lang="en-US" dirty="0" smtClean="0"/>
              <a:t>Version Control is a system that helps track and manage changes in source code over time.</a:t>
            </a:r>
            <a:br>
              <a:rPr lang="en-US" dirty="0" smtClean="0"/>
            </a:br>
            <a:r>
              <a:rPr lang="en-US" dirty="0" smtClean="0"/>
              <a:t>I learned how </a:t>
            </a:r>
            <a:r>
              <a:rPr lang="en-US" b="1" dirty="0" err="1" smtClean="0"/>
              <a:t>Git</a:t>
            </a:r>
            <a:r>
              <a:rPr lang="en-US" dirty="0" smtClean="0"/>
              <a:t> maintains project history through commits and branches, allowing safe experimentation and rollback.</a:t>
            </a:r>
          </a:p>
          <a:p>
            <a:r>
              <a:rPr lang="en-US" dirty="0" smtClean="0"/>
              <a:t>Using </a:t>
            </a:r>
            <a:r>
              <a:rPr lang="en-US" b="1" dirty="0" smtClean="0"/>
              <a:t>GitHub</a:t>
            </a:r>
            <a:r>
              <a:rPr lang="en-US" dirty="0" smtClean="0"/>
              <a:t>, I understood how repositories are created, managed, and shared for collaboration.</a:t>
            </a:r>
          </a:p>
          <a:p>
            <a:r>
              <a:rPr lang="en-US" dirty="0" smtClean="0"/>
              <a:t>I also explored </a:t>
            </a:r>
            <a:r>
              <a:rPr lang="en-US" b="1" dirty="0" smtClean="0"/>
              <a:t>Docker</a:t>
            </a:r>
            <a:r>
              <a:rPr lang="en-US" dirty="0" smtClean="0"/>
              <a:t>, which helps run applications in isolated containers, ensuring consistency across different environments.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3646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Python Fundamentals</a:t>
            </a:r>
          </a:p>
          <a:p>
            <a:r>
              <a:rPr lang="en-US" dirty="0" smtClean="0"/>
              <a:t>In this week, I built a strong foundation in Python programming.</a:t>
            </a:r>
          </a:p>
          <a:p>
            <a:r>
              <a:rPr lang="en-US" dirty="0" smtClean="0"/>
              <a:t>I learned about variables, data types, operators, conditional statements (if-else), and loops (for, while).</a:t>
            </a:r>
          </a:p>
          <a:p>
            <a:r>
              <a:rPr lang="en-US" dirty="0" smtClean="0"/>
              <a:t>I also practiced working with data structures such as lists, tuples, dictionaries, and sets.</a:t>
            </a:r>
          </a:p>
          <a:p>
            <a:r>
              <a:rPr lang="en-US" dirty="0" smtClean="0"/>
              <a:t>These core concepts helped me understand how to structure logic and solve programming problems efficiently.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41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Practice, Debugging &amp; Logical Thinking</a:t>
            </a:r>
          </a:p>
          <a:p>
            <a:r>
              <a:rPr lang="en-US" dirty="0" smtClean="0"/>
              <a:t>Continuous practice played a key role in strengthening my programming skills.</a:t>
            </a:r>
          </a:p>
          <a:p>
            <a:r>
              <a:rPr lang="en-US" dirty="0" smtClean="0"/>
              <a:t>I worked on multiple problem-solving exercises to improve logical thinking.</a:t>
            </a:r>
          </a:p>
          <a:p>
            <a:r>
              <a:rPr lang="en-US" dirty="0" smtClean="0"/>
              <a:t>I also learned debugging techniques to identify and fix errors in code.</a:t>
            </a:r>
          </a:p>
          <a:p>
            <a:r>
              <a:rPr lang="en-US" dirty="0" smtClean="0"/>
              <a:t>This week helped me gain confidence and build a strong base for advanced topics.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96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Functions &amp; Code Reusability</a:t>
            </a:r>
          </a:p>
          <a:p>
            <a:r>
              <a:rPr lang="en-US" dirty="0" smtClean="0"/>
              <a:t>Functions are reusable blocks of code designed to perform specific tasks.</a:t>
            </a:r>
          </a:p>
          <a:p>
            <a:r>
              <a:rPr lang="en-US" dirty="0" smtClean="0"/>
              <a:t>I learned how to define functions, use parameters, and return values effectively.</a:t>
            </a:r>
          </a:p>
          <a:p>
            <a:r>
              <a:rPr lang="en-US" dirty="0" smtClean="0"/>
              <a:t>Understanding default arguments and function calls improved my ability to write modular and organized programs.</a:t>
            </a:r>
          </a:p>
          <a:p>
            <a:r>
              <a:rPr lang="en-US" dirty="0" smtClean="0"/>
              <a:t>This concept significantly reduced code repetition and improved readability.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52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Advanced Function Concepts</a:t>
            </a:r>
          </a:p>
          <a:p>
            <a:r>
              <a:rPr lang="en-US" dirty="0" smtClean="0"/>
              <a:t>I explored advanced programming concepts such as </a:t>
            </a:r>
            <a:r>
              <a:rPr lang="en-US" b="1" dirty="0" smtClean="0"/>
              <a:t>lambda functions</a:t>
            </a:r>
            <a:r>
              <a:rPr lang="en-US" dirty="0" smtClean="0"/>
              <a:t>, which are anonymous and concise functions.</a:t>
            </a:r>
          </a:p>
          <a:p>
            <a:r>
              <a:rPr lang="en-US" dirty="0" smtClean="0"/>
              <a:t>I studied </a:t>
            </a:r>
            <a:r>
              <a:rPr lang="en-US" b="1" dirty="0" smtClean="0"/>
              <a:t>recursion</a:t>
            </a:r>
            <a:r>
              <a:rPr lang="en-US" dirty="0" smtClean="0"/>
              <a:t>, where a function calls itself to solve smaller </a:t>
            </a:r>
            <a:r>
              <a:rPr lang="en-US" dirty="0" err="1" smtClean="0"/>
              <a:t>subproblems</a:t>
            </a:r>
            <a:r>
              <a:rPr lang="en-US" dirty="0" smtClean="0"/>
              <a:t>.</a:t>
            </a:r>
          </a:p>
          <a:p>
            <a:r>
              <a:rPr lang="en-US" dirty="0" smtClean="0"/>
              <a:t>I also learned about </a:t>
            </a:r>
            <a:r>
              <a:rPr lang="en-US" b="1" dirty="0" smtClean="0"/>
              <a:t>decorators</a:t>
            </a:r>
            <a:r>
              <a:rPr lang="en-US" dirty="0" smtClean="0"/>
              <a:t>, which allow modification of function behavior without changing its core structure.</a:t>
            </a:r>
          </a:p>
          <a:p>
            <a:r>
              <a:rPr lang="en-US" dirty="0" smtClean="0"/>
              <a:t>These concepts enhanced my understanding of functional programming.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715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17420" y="320040"/>
            <a:ext cx="4709160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Modules &amp; Packages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Modules help organize Python code into separate files for better structure and maintainability.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I practiced different import techniques such as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import</a:t>
            </a: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from</a:t>
            </a: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and aliasing.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I learned how packages group multiple modules together and how the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__init__.py</a:t>
            </a: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file defines a package.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This improved my understanding of large-scale project organization.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2636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Object-Oriented Programming (OOP)</a:t>
            </a:r>
          </a:p>
          <a:p>
            <a:r>
              <a:rPr lang="en-US" dirty="0" smtClean="0"/>
              <a:t>Object-Oriented Programming (OOP) is a programming approach where programs are designed using classes and objects.</a:t>
            </a:r>
          </a:p>
          <a:p>
            <a:r>
              <a:rPr lang="en-US" dirty="0" smtClean="0"/>
              <a:t>A </a:t>
            </a:r>
            <a:r>
              <a:rPr lang="en-US" b="1" dirty="0" smtClean="0"/>
              <a:t>class</a:t>
            </a:r>
            <a:r>
              <a:rPr lang="en-US" dirty="0" smtClean="0"/>
              <a:t> is like a blueprint or template, and an </a:t>
            </a:r>
            <a:r>
              <a:rPr lang="en-US" b="1" dirty="0" smtClean="0"/>
              <a:t>object</a:t>
            </a:r>
            <a:r>
              <a:rPr lang="en-US" dirty="0" smtClean="0"/>
              <a:t> is a real example created from that class.</a:t>
            </a:r>
            <a:br>
              <a:rPr lang="en-US" dirty="0" smtClean="0"/>
            </a:br>
            <a:r>
              <a:rPr lang="en-US" dirty="0" smtClean="0"/>
              <a:t>Objects contain data (attributes) and functions (methods).</a:t>
            </a:r>
          </a:p>
          <a:p>
            <a:r>
              <a:rPr lang="en-US" dirty="0" smtClean="0"/>
              <a:t>I learned important OOP concepts such as:</a:t>
            </a:r>
          </a:p>
          <a:p>
            <a:r>
              <a:rPr lang="en-US" b="1" dirty="0" smtClean="0"/>
              <a:t>Inheritance</a:t>
            </a:r>
            <a:r>
              <a:rPr lang="en-US" dirty="0" smtClean="0"/>
              <a:t> – one class can use the properties and methods of another class.</a:t>
            </a:r>
          </a:p>
          <a:p>
            <a:r>
              <a:rPr lang="en-US" b="1" dirty="0" smtClean="0"/>
              <a:t>Polymorphism</a:t>
            </a:r>
            <a:r>
              <a:rPr lang="en-US" dirty="0" smtClean="0"/>
              <a:t> – the same method can perform different actions in different situations.</a:t>
            </a:r>
          </a:p>
          <a:p>
            <a:r>
              <a:rPr lang="en-US" dirty="0" smtClean="0"/>
              <a:t>OOP helps in writing organized, reusable, and easy-to-manage code.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075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GUI Development using </a:t>
            </a:r>
            <a:r>
              <a:rPr lang="en-US" b="1" dirty="0" err="1" smtClean="0"/>
              <a:t>Tkinter</a:t>
            </a:r>
            <a:endParaRPr lang="en-US" b="1" dirty="0" smtClean="0"/>
          </a:p>
          <a:p>
            <a:r>
              <a:rPr lang="en-US" dirty="0" smtClean="0"/>
              <a:t>GUI stands for Graphical User Interface. It allows users to interact with applications using buttons, text boxes, and labels instead of typing commands.</a:t>
            </a:r>
          </a:p>
          <a:p>
            <a:r>
              <a:rPr lang="en-US" dirty="0" smtClean="0"/>
              <a:t>I learned GUI development using the </a:t>
            </a:r>
            <a:r>
              <a:rPr lang="en-US" b="1" dirty="0" err="1" smtClean="0"/>
              <a:t>Tkinter</a:t>
            </a:r>
            <a:r>
              <a:rPr lang="en-US" dirty="0" smtClean="0"/>
              <a:t> library in Python.</a:t>
            </a:r>
          </a:p>
          <a:p>
            <a:r>
              <a:rPr lang="en-US" dirty="0" smtClean="0"/>
              <a:t>I practiced using widgets like labels, buttons, and entry fields.</a:t>
            </a:r>
            <a:br>
              <a:rPr lang="en-US" dirty="0" smtClean="0"/>
            </a:br>
            <a:r>
              <a:rPr lang="en-US" dirty="0" smtClean="0"/>
              <a:t>I also understood event handling, where clicking a button triggers a specific function.</a:t>
            </a:r>
          </a:p>
          <a:p>
            <a:r>
              <a:rPr lang="en-US" dirty="0" smtClean="0"/>
              <a:t>This helped me move from basic console programs to interactive graphical applications.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8733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Project Implementation – </a:t>
            </a:r>
            <a:r>
              <a:rPr lang="en-US" b="1" dirty="0" err="1" smtClean="0"/>
              <a:t>EduTrack</a:t>
            </a:r>
            <a:endParaRPr lang="en-US" b="1" dirty="0" smtClean="0"/>
          </a:p>
          <a:p>
            <a:r>
              <a:rPr lang="en-US" dirty="0" smtClean="0"/>
              <a:t>During this week, I started working on the “</a:t>
            </a:r>
            <a:r>
              <a:rPr lang="en-US" dirty="0" err="1" smtClean="0"/>
              <a:t>EduTrack</a:t>
            </a:r>
            <a:r>
              <a:rPr lang="en-US" dirty="0" smtClean="0"/>
              <a:t>” project.</a:t>
            </a:r>
          </a:p>
          <a:p>
            <a:r>
              <a:rPr lang="en-US" dirty="0" smtClean="0"/>
              <a:t>I applied programming concepts to design and implement the project logic.</a:t>
            </a:r>
            <a:br>
              <a:rPr lang="en-US" dirty="0" smtClean="0"/>
            </a:br>
            <a:r>
              <a:rPr lang="en-US" dirty="0" smtClean="0"/>
              <a:t>I tested the program step by step and fixed errors through debugging.</a:t>
            </a:r>
          </a:p>
          <a:p>
            <a:r>
              <a:rPr lang="en-US" dirty="0" smtClean="0"/>
              <a:t>This practical experience helped me understand real-world project development and improved my problem-solving skills.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4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</a:t>
            </a:r>
            <a:r>
              <a:rPr lang="en-US" b="1" dirty="0" err="1" smtClean="0"/>
              <a:t>NumPy</a:t>
            </a:r>
            <a:endParaRPr lang="en-US" b="1" dirty="0" smtClean="0"/>
          </a:p>
          <a:p>
            <a:r>
              <a:rPr lang="en-US" dirty="0" smtClean="0"/>
              <a:t>In Week 4, I started learning about Python libraries used for data analysis.</a:t>
            </a:r>
          </a:p>
          <a:p>
            <a:r>
              <a:rPr lang="en-US" dirty="0" err="1" smtClean="0"/>
              <a:t>NumPy</a:t>
            </a:r>
            <a:r>
              <a:rPr lang="en-US" dirty="0" smtClean="0"/>
              <a:t> is a library used for numerical computing. It works with arrays, which are faster and more efficient than normal Python lists.</a:t>
            </a:r>
          </a:p>
          <a:p>
            <a:r>
              <a:rPr lang="en-US" dirty="0" smtClean="0"/>
              <a:t>I learned how to create </a:t>
            </a:r>
            <a:r>
              <a:rPr lang="en-US" dirty="0" err="1" smtClean="0"/>
              <a:t>NumPy</a:t>
            </a:r>
            <a:r>
              <a:rPr lang="en-US" dirty="0" smtClean="0"/>
              <a:t> arrays and perform operations like indexing and slicing.</a:t>
            </a:r>
            <a:br>
              <a:rPr lang="en-US" dirty="0" smtClean="0"/>
            </a:br>
            <a:r>
              <a:rPr lang="en-US" dirty="0" smtClean="0"/>
              <a:t>I also practiced basic mathematical operations on arrays.</a:t>
            </a:r>
          </a:p>
          <a:p>
            <a:r>
              <a:rPr lang="en-US" dirty="0" err="1" smtClean="0"/>
              <a:t>NumPy</a:t>
            </a:r>
            <a:r>
              <a:rPr lang="en-US" dirty="0" smtClean="0"/>
              <a:t> helps in handling large amounts of numerical data efficiently.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32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Pandas &amp; Data Processing</a:t>
            </a:r>
          </a:p>
          <a:p>
            <a:r>
              <a:rPr lang="en-US" dirty="0" smtClean="0"/>
              <a:t>I learned about Pandas, a powerful library used for data analysis and data manipulation.</a:t>
            </a:r>
          </a:p>
          <a:p>
            <a:r>
              <a:rPr lang="en-US" dirty="0" smtClean="0"/>
              <a:t>Pandas provides a structure called </a:t>
            </a:r>
            <a:r>
              <a:rPr lang="en-US" b="1" dirty="0" err="1" smtClean="0"/>
              <a:t>DataFrame</a:t>
            </a:r>
            <a:r>
              <a:rPr lang="en-US" dirty="0" smtClean="0"/>
              <a:t>, which looks like a table with rows and columns.</a:t>
            </a:r>
          </a:p>
          <a:p>
            <a:r>
              <a:rPr lang="en-US" dirty="0" smtClean="0"/>
              <a:t>I practiced loading datasets, checking missing values, cleaning data, and organizing information.</a:t>
            </a:r>
          </a:p>
          <a:p>
            <a:r>
              <a:rPr lang="en-US" dirty="0" smtClean="0"/>
              <a:t>This helped me understand how real-world data is prepared before analysis.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302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Data Handling &amp; Practice</a:t>
            </a:r>
          </a:p>
          <a:p>
            <a:r>
              <a:rPr lang="en-US" dirty="0" smtClean="0"/>
              <a:t>During this week, I applied </a:t>
            </a:r>
            <a:r>
              <a:rPr lang="en-US" dirty="0" err="1" smtClean="0"/>
              <a:t>NumPy</a:t>
            </a:r>
            <a:r>
              <a:rPr lang="en-US" dirty="0" smtClean="0"/>
              <a:t> and Pandas on different datasets.</a:t>
            </a:r>
          </a:p>
          <a:p>
            <a:r>
              <a:rPr lang="en-US" dirty="0" smtClean="0"/>
              <a:t>I practiced filtering, sorting, and selecting specific data.</a:t>
            </a:r>
            <a:br>
              <a:rPr lang="en-US" dirty="0" smtClean="0"/>
            </a:br>
            <a:r>
              <a:rPr lang="en-US" dirty="0" smtClean="0"/>
              <a:t>I also learned how to analyze and summarize data using built-in functions.</a:t>
            </a:r>
          </a:p>
          <a:p>
            <a:r>
              <a:rPr lang="en-US" dirty="0" smtClean="0"/>
              <a:t>This improved my data handling skills and strengthened my understanding of data analysis concepts.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838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Data Visualization with </a:t>
            </a:r>
            <a:r>
              <a:rPr lang="en-US" b="1" dirty="0" err="1" smtClean="0"/>
              <a:t>Matplotlib</a:t>
            </a:r>
            <a:endParaRPr lang="en-US" b="1" dirty="0" smtClean="0"/>
          </a:p>
          <a:p>
            <a:r>
              <a:rPr lang="en-US" dirty="0" smtClean="0"/>
              <a:t>In Week 5, I started learning about data visualization.</a:t>
            </a:r>
          </a:p>
          <a:p>
            <a:r>
              <a:rPr lang="en-US" dirty="0" smtClean="0"/>
              <a:t>Data visualization helps in representing data in graphical form, which makes it easier to understand patterns and trends.</a:t>
            </a:r>
          </a:p>
          <a:p>
            <a:r>
              <a:rPr lang="en-US" dirty="0" smtClean="0"/>
              <a:t>I learned to use the </a:t>
            </a:r>
            <a:r>
              <a:rPr lang="en-US" b="1" dirty="0" err="1" smtClean="0"/>
              <a:t>Matplotlib</a:t>
            </a:r>
            <a:r>
              <a:rPr lang="en-US" dirty="0" smtClean="0"/>
              <a:t> library to create basic graphs such as line plots and bar charts.</a:t>
            </a:r>
          </a:p>
          <a:p>
            <a:r>
              <a:rPr lang="en-US" dirty="0" smtClean="0"/>
              <a:t>This helped me understand how visual representation makes data analysis clearer and more meaningful.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038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Advanced Visualization using </a:t>
            </a:r>
            <a:r>
              <a:rPr lang="en-US" b="1" dirty="0" err="1" smtClean="0"/>
              <a:t>Seaborn</a:t>
            </a:r>
            <a:endParaRPr lang="en-US" b="1" dirty="0" smtClean="0"/>
          </a:p>
          <a:p>
            <a:r>
              <a:rPr lang="en-US" dirty="0" smtClean="0"/>
              <a:t>I also learned about </a:t>
            </a:r>
            <a:r>
              <a:rPr lang="en-US" b="1" dirty="0" err="1" smtClean="0"/>
              <a:t>Seaborn</a:t>
            </a:r>
            <a:r>
              <a:rPr lang="en-US" dirty="0" smtClean="0"/>
              <a:t>, which is an advanced data visualization library built on top of </a:t>
            </a:r>
            <a:r>
              <a:rPr lang="en-US" dirty="0" err="1" smtClean="0"/>
              <a:t>Matplotlib</a:t>
            </a:r>
            <a:r>
              <a:rPr lang="en-US" dirty="0" smtClean="0"/>
              <a:t>.</a:t>
            </a:r>
          </a:p>
          <a:p>
            <a:r>
              <a:rPr lang="en-US" dirty="0" err="1" smtClean="0"/>
              <a:t>Seaborn</a:t>
            </a:r>
            <a:r>
              <a:rPr lang="en-US" dirty="0" smtClean="0"/>
              <a:t> provides more attractive and informative statistical graphs.</a:t>
            </a:r>
          </a:p>
          <a:p>
            <a:r>
              <a:rPr lang="en-US" dirty="0" smtClean="0"/>
              <a:t>I practiced creating histograms, pie charts, and other visual plots to better understand data distribution and relationships.</a:t>
            </a:r>
          </a:p>
          <a:p>
            <a:r>
              <a:rPr lang="en-US" dirty="0" smtClean="0"/>
              <a:t>This improved my ability to present data in a professional way.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920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Applying Visualization on Datasets</a:t>
            </a:r>
          </a:p>
          <a:p>
            <a:r>
              <a:rPr lang="en-US" dirty="0" smtClean="0"/>
              <a:t>During this week, I applied visualization techniques to real datasets.</a:t>
            </a:r>
          </a:p>
          <a:p>
            <a:r>
              <a:rPr lang="en-US" dirty="0" smtClean="0"/>
              <a:t>I learned how to choose the correct type of graph based on the data.</a:t>
            </a:r>
            <a:br>
              <a:rPr lang="en-US" dirty="0" smtClean="0"/>
            </a:br>
            <a:r>
              <a:rPr lang="en-US" dirty="0" smtClean="0"/>
              <a:t>I analyzed patterns, trends, and comparisons using different charts.</a:t>
            </a:r>
          </a:p>
          <a:p>
            <a:r>
              <a:rPr lang="en-US" dirty="0" smtClean="0"/>
              <a:t>This experience improved my analytical thinking and presentation skills.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341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Machine Learning</a:t>
            </a:r>
          </a:p>
          <a:p>
            <a:r>
              <a:rPr lang="en-US" dirty="0" smtClean="0"/>
              <a:t>In Week 6, I was introduced to the basics of Machine Learning.</a:t>
            </a:r>
          </a:p>
          <a:p>
            <a:r>
              <a:rPr lang="en-US" dirty="0" smtClean="0"/>
              <a:t>Machine Learning is a part of Artificial Intelligence where systems learn from data and make predictions or decisions without being explicitly programmed.</a:t>
            </a:r>
          </a:p>
          <a:p>
            <a:r>
              <a:rPr lang="en-US" dirty="0" smtClean="0"/>
              <a:t>I understood the difference between AI and ML, where AI is a broader concept and ML is a subset of AI.</a:t>
            </a:r>
          </a:p>
          <a:p>
            <a:r>
              <a:rPr lang="en-US" dirty="0" smtClean="0"/>
              <a:t>This week helped me understand how machines learn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794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Types of Machine Learning</a:t>
            </a:r>
          </a:p>
          <a:p>
            <a:r>
              <a:rPr lang="en-US" dirty="0" smtClean="0"/>
              <a:t>I learned about the three main types of Machine Learning:</a:t>
            </a:r>
          </a:p>
          <a:p>
            <a:r>
              <a:rPr lang="en-US" b="1" dirty="0" smtClean="0"/>
              <a:t>Supervised Learning</a:t>
            </a:r>
            <a:r>
              <a:rPr lang="en-US" dirty="0" smtClean="0"/>
              <a:t> – The model is trained using labeled data (input and correct output).</a:t>
            </a:r>
          </a:p>
          <a:p>
            <a:r>
              <a:rPr lang="en-US" b="1" dirty="0" smtClean="0"/>
              <a:t>Unsupervised Learning</a:t>
            </a:r>
            <a:r>
              <a:rPr lang="en-US" dirty="0" smtClean="0"/>
              <a:t> – The model finds patterns in unlabeled data.</a:t>
            </a:r>
          </a:p>
          <a:p>
            <a:r>
              <a:rPr lang="en-US" b="1" dirty="0" smtClean="0"/>
              <a:t>Reinforcement Learning</a:t>
            </a:r>
            <a:r>
              <a:rPr lang="en-US" dirty="0" smtClean="0"/>
              <a:t> – The model learns through rewards and penalties.</a:t>
            </a:r>
          </a:p>
          <a:p>
            <a:r>
              <a:rPr lang="en-US" dirty="0" smtClean="0"/>
              <a:t>Understanding these types helped me identify where each method is used in real-world applications.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540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Machine Learning Workflow</a:t>
            </a:r>
          </a:p>
          <a:p>
            <a:r>
              <a:rPr lang="en-US" dirty="0" smtClean="0"/>
              <a:t>I studied the basic steps involved in building a Machine Learning model:</a:t>
            </a:r>
          </a:p>
          <a:p>
            <a:r>
              <a:rPr lang="en-US" dirty="0" smtClean="0"/>
              <a:t>Data Collection</a:t>
            </a:r>
          </a:p>
          <a:p>
            <a:r>
              <a:rPr lang="en-US" dirty="0" smtClean="0"/>
              <a:t>Data Preprocessing</a:t>
            </a:r>
          </a:p>
          <a:p>
            <a:r>
              <a:rPr lang="en-US" dirty="0" smtClean="0"/>
              <a:t>Model Training</a:t>
            </a:r>
          </a:p>
          <a:p>
            <a:r>
              <a:rPr lang="en-US" dirty="0" smtClean="0"/>
              <a:t>Model Evaluation</a:t>
            </a:r>
          </a:p>
          <a:p>
            <a:r>
              <a:rPr lang="en-US" dirty="0" smtClean="0"/>
              <a:t>Prediction</a:t>
            </a:r>
          </a:p>
          <a:p>
            <a:r>
              <a:rPr lang="en-US" dirty="0" smtClean="0"/>
              <a:t>Following this workflow ensures that the model is accurate and reliable.</a:t>
            </a:r>
          </a:p>
          <a:p>
            <a:r>
              <a:rPr lang="en-US" dirty="0" smtClean="0"/>
              <a:t>This week built a strong foundation for advanced ML concepts.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124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Data Preprocessing Techniques</a:t>
            </a:r>
          </a:p>
          <a:p>
            <a:r>
              <a:rPr lang="en-US" dirty="0" smtClean="0"/>
              <a:t>In Machine Learning, data cannot be used directly. The first step is </a:t>
            </a:r>
            <a:r>
              <a:rPr lang="en-US" b="1" dirty="0" smtClean="0"/>
              <a:t>Data Preprocessing</a:t>
            </a:r>
            <a:r>
              <a:rPr lang="en-US" dirty="0" smtClean="0"/>
              <a:t>.</a:t>
            </a:r>
          </a:p>
          <a:p>
            <a:r>
              <a:rPr lang="en-US" dirty="0" smtClean="0"/>
              <a:t>Feature Scaling helps bring large and small values into the same range.</a:t>
            </a:r>
          </a:p>
          <a:p>
            <a:r>
              <a:rPr lang="en-US" b="1" dirty="0" smtClean="0"/>
              <a:t>Normalization</a:t>
            </a:r>
            <a:r>
              <a:rPr lang="en-US" dirty="0" smtClean="0"/>
              <a:t> converts data into a range between 0 and 1.</a:t>
            </a:r>
          </a:p>
          <a:p>
            <a:r>
              <a:rPr lang="en-US" b="1" dirty="0" smtClean="0"/>
              <a:t>Standardization</a:t>
            </a:r>
            <a:r>
              <a:rPr lang="en-US" dirty="0" smtClean="0"/>
              <a:t> converts data so that the mean becomes 0 and the standard deviation becomes 1.</a:t>
            </a:r>
          </a:p>
          <a:p>
            <a:r>
              <a:rPr lang="en-US" dirty="0" smtClean="0"/>
              <a:t>Feature Encoding is used to convert categorical data into numerical form.</a:t>
            </a:r>
          </a:p>
          <a:p>
            <a:r>
              <a:rPr lang="en-US" b="1" dirty="0" smtClean="0"/>
              <a:t>Label Encoding</a:t>
            </a:r>
            <a:r>
              <a:rPr lang="en-US" dirty="0" smtClean="0"/>
              <a:t> assigns a unique number to each category.</a:t>
            </a:r>
          </a:p>
          <a:p>
            <a:r>
              <a:rPr lang="en-US" b="1" dirty="0" smtClean="0"/>
              <a:t>One Hot Encoding</a:t>
            </a:r>
            <a:r>
              <a:rPr lang="en-US" dirty="0" smtClean="0"/>
              <a:t> creates separate binary columns for each category.</a:t>
            </a:r>
          </a:p>
          <a:p>
            <a:r>
              <a:rPr lang="en-US" dirty="0" smtClean="0"/>
              <a:t>Preprocessing makes the model faster and more accurate.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714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Regression Concepts</a:t>
            </a:r>
          </a:p>
          <a:p>
            <a:r>
              <a:rPr lang="en-US" dirty="0" smtClean="0"/>
              <a:t>Regression is used to predict continuous values, such as house prices.</a:t>
            </a:r>
          </a:p>
          <a:p>
            <a:r>
              <a:rPr lang="en-US" b="1" dirty="0" smtClean="0"/>
              <a:t>Linear Regression</a:t>
            </a:r>
            <a:r>
              <a:rPr lang="en-US" dirty="0" smtClean="0"/>
              <a:t> finds a straight-line relationship between independent and dependent variables.</a:t>
            </a:r>
          </a:p>
          <a:p>
            <a:r>
              <a:rPr lang="en-US" b="1" dirty="0" smtClean="0"/>
              <a:t>Multiple Linear Regression</a:t>
            </a:r>
            <a:r>
              <a:rPr lang="en-US" dirty="0" smtClean="0"/>
              <a:t> uses more than one independent variable for prediction.</a:t>
            </a:r>
          </a:p>
          <a:p>
            <a:r>
              <a:rPr lang="en-US" b="1" dirty="0" smtClean="0"/>
              <a:t>Polynomial Regression</a:t>
            </a:r>
            <a:r>
              <a:rPr lang="en-US" dirty="0" smtClean="0"/>
              <a:t> captures non-linear (curved) relationships.</a:t>
            </a:r>
          </a:p>
          <a:p>
            <a:r>
              <a:rPr lang="en-US" dirty="0" smtClean="0"/>
              <a:t>The main goal of regression is to find the best-fit line that minimizes prediction error.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453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Model Evaluation &amp; Validation</a:t>
            </a:r>
          </a:p>
          <a:p>
            <a:r>
              <a:rPr lang="en-US" dirty="0" smtClean="0"/>
              <a:t>After building a model, it is important to measure its performance.</a:t>
            </a:r>
          </a:p>
          <a:p>
            <a:r>
              <a:rPr lang="en-US" dirty="0" smtClean="0"/>
              <a:t>For regression, we use:</a:t>
            </a:r>
          </a:p>
          <a:p>
            <a:r>
              <a:rPr lang="en-US" b="1" dirty="0" smtClean="0"/>
              <a:t>MAE (Mean Absolute Error)</a:t>
            </a:r>
            <a:r>
              <a:rPr lang="en-US" dirty="0" smtClean="0"/>
              <a:t> – average prediction error</a:t>
            </a:r>
          </a:p>
          <a:p>
            <a:r>
              <a:rPr lang="en-US" b="1" dirty="0" smtClean="0"/>
              <a:t>MSE (Mean Squared Error)</a:t>
            </a:r>
            <a:r>
              <a:rPr lang="en-US" dirty="0" smtClean="0"/>
              <a:t> – squared error</a:t>
            </a:r>
          </a:p>
          <a:p>
            <a:r>
              <a:rPr lang="en-US" b="1" dirty="0" smtClean="0"/>
              <a:t>RMSE</a:t>
            </a:r>
            <a:r>
              <a:rPr lang="en-US" dirty="0" smtClean="0"/>
              <a:t> – square root of MSE</a:t>
            </a:r>
          </a:p>
          <a:p>
            <a:r>
              <a:rPr lang="en-US" b="1" dirty="0" smtClean="0"/>
              <a:t>R² Score</a:t>
            </a:r>
            <a:r>
              <a:rPr lang="en-US" dirty="0" smtClean="0"/>
              <a:t> – shows how much variance the model explains</a:t>
            </a:r>
          </a:p>
          <a:p>
            <a:r>
              <a:rPr lang="en-US" dirty="0" smtClean="0"/>
              <a:t>For validation:</a:t>
            </a:r>
          </a:p>
          <a:p>
            <a:r>
              <a:rPr lang="en-US" b="1" dirty="0" smtClean="0"/>
              <a:t>Train-Test Split</a:t>
            </a:r>
            <a:r>
              <a:rPr lang="en-US" dirty="0" smtClean="0"/>
              <a:t> divides data into training and testing sets</a:t>
            </a:r>
          </a:p>
          <a:p>
            <a:r>
              <a:rPr lang="en-US" b="1" dirty="0" smtClean="0"/>
              <a:t>Cross Validation (Holdout Method)</a:t>
            </a:r>
            <a:r>
              <a:rPr lang="en-US" dirty="0" smtClean="0"/>
              <a:t> checks how well the model generalizes to new data</a:t>
            </a:r>
          </a:p>
          <a:p>
            <a:r>
              <a:rPr lang="en-US" dirty="0" smtClean="0"/>
              <a:t>Evaluation helps us understand whether the model is overfitting or performing properly.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989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Overfitting, </a:t>
            </a:r>
            <a:r>
              <a:rPr lang="en-US" b="1" dirty="0" err="1" smtClean="0"/>
              <a:t>Underfitting</a:t>
            </a:r>
            <a:r>
              <a:rPr lang="en-US" b="1" dirty="0" smtClean="0"/>
              <a:t> &amp; Regularization</a:t>
            </a:r>
          </a:p>
          <a:p>
            <a:r>
              <a:rPr lang="en-US" dirty="0" smtClean="0"/>
              <a:t>In Machine Learning, model performance depends on how well it generalizes to new data.</a:t>
            </a:r>
          </a:p>
          <a:p>
            <a:r>
              <a:rPr lang="en-US" b="1" dirty="0" smtClean="0"/>
              <a:t>Overfitting</a:t>
            </a:r>
            <a:r>
              <a:rPr lang="en-US" dirty="0" smtClean="0"/>
              <a:t> occurs when a model performs very well on training data but poorly on unseen data. It captures noise instead of the actual pattern.</a:t>
            </a:r>
          </a:p>
          <a:p>
            <a:r>
              <a:rPr lang="en-US" b="1" dirty="0" err="1" smtClean="0"/>
              <a:t>Underfitting</a:t>
            </a:r>
            <a:r>
              <a:rPr lang="en-US" dirty="0" smtClean="0"/>
              <a:t> happens when a model is too simple and fails to capture the underlying relationship in the data.</a:t>
            </a:r>
          </a:p>
          <a:p>
            <a:r>
              <a:rPr lang="en-US" dirty="0" smtClean="0"/>
              <a:t>To solve overfitting, we use </a:t>
            </a:r>
            <a:r>
              <a:rPr lang="en-US" b="1" dirty="0" smtClean="0"/>
              <a:t>Regularization techniques</a:t>
            </a:r>
            <a:r>
              <a:rPr lang="en-US" dirty="0" smtClean="0"/>
              <a:t>:</a:t>
            </a:r>
          </a:p>
          <a:p>
            <a:r>
              <a:rPr lang="en-US" b="1" dirty="0" smtClean="0"/>
              <a:t>Ridge Regression (L2)</a:t>
            </a:r>
            <a:r>
              <a:rPr lang="en-US" dirty="0" smtClean="0"/>
              <a:t> reduces large coefficients.</a:t>
            </a:r>
          </a:p>
          <a:p>
            <a:r>
              <a:rPr lang="en-US" b="1" dirty="0" smtClean="0"/>
              <a:t>Lasso Regression (L1)</a:t>
            </a:r>
            <a:r>
              <a:rPr lang="en-US" dirty="0" smtClean="0"/>
              <a:t> can shrink some coefficients to zero, helping in feature selection.</a:t>
            </a:r>
          </a:p>
          <a:p>
            <a:r>
              <a:rPr lang="en-US" dirty="0" smtClean="0"/>
              <a:t>These techniques improve model generalization.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226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Classification &amp; Logistic Regression</a:t>
            </a:r>
          </a:p>
          <a:p>
            <a:r>
              <a:rPr lang="en-US" dirty="0" smtClean="0"/>
              <a:t>Classification is a supervised learning technique used to predict </a:t>
            </a:r>
            <a:r>
              <a:rPr lang="en-US" b="1" dirty="0" smtClean="0"/>
              <a:t>categorical outcomes</a:t>
            </a:r>
            <a:r>
              <a:rPr lang="en-US" dirty="0" smtClean="0"/>
              <a:t> such as Yes/No, Pass/Fail, Spam/Not Spam.</a:t>
            </a:r>
          </a:p>
          <a:p>
            <a:r>
              <a:rPr lang="en-US" dirty="0" smtClean="0"/>
              <a:t>One of the most important classification algorithms is </a:t>
            </a:r>
            <a:r>
              <a:rPr lang="en-US" b="1" dirty="0" smtClean="0"/>
              <a:t>Logistic Regression</a:t>
            </a:r>
            <a:r>
              <a:rPr lang="en-US" dirty="0" smtClean="0"/>
              <a:t>.</a:t>
            </a:r>
          </a:p>
          <a:p>
            <a:r>
              <a:rPr lang="en-US" dirty="0" smtClean="0"/>
              <a:t>Unlike Linear Regression, Logistic Regression uses a </a:t>
            </a:r>
            <a:r>
              <a:rPr lang="en-US" b="1" dirty="0" smtClean="0"/>
              <a:t>sigmoid function</a:t>
            </a:r>
            <a:r>
              <a:rPr lang="en-US" dirty="0" smtClean="0"/>
              <a:t> to convert output into probability values between 0 and 1.</a:t>
            </a:r>
          </a:p>
          <a:p>
            <a:r>
              <a:rPr lang="en-US" dirty="0" smtClean="0"/>
              <a:t>Based on a threshold (usually 0.5), the model assigns a class label.</a:t>
            </a:r>
          </a:p>
          <a:p>
            <a:r>
              <a:rPr lang="en-US" dirty="0" smtClean="0"/>
              <a:t>It is widely used because it is simple, efficient, and interpretable.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3226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592372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Classification Evaluation Metrics</a:t>
            </a:r>
          </a:p>
          <a:p>
            <a:r>
              <a:rPr lang="en-US" dirty="0" smtClean="0"/>
              <a:t>To measure classification performance, we use different evaluation metrics.</a:t>
            </a:r>
          </a:p>
          <a:p>
            <a:r>
              <a:rPr lang="en-US" dirty="0" smtClean="0"/>
              <a:t>The </a:t>
            </a:r>
            <a:r>
              <a:rPr lang="en-US" b="1" dirty="0" smtClean="0"/>
              <a:t>Confusion Matrix</a:t>
            </a:r>
            <a:r>
              <a:rPr lang="en-US" dirty="0" smtClean="0"/>
              <a:t> shows:</a:t>
            </a:r>
          </a:p>
          <a:p>
            <a:r>
              <a:rPr lang="en-US" dirty="0" smtClean="0"/>
              <a:t>True Positive (TP)</a:t>
            </a:r>
          </a:p>
          <a:p>
            <a:r>
              <a:rPr lang="en-US" dirty="0" smtClean="0"/>
              <a:t>True Negative (TN)</a:t>
            </a:r>
          </a:p>
          <a:p>
            <a:r>
              <a:rPr lang="en-US" dirty="0" smtClean="0"/>
              <a:t>False Positive (FP)</a:t>
            </a:r>
          </a:p>
          <a:p>
            <a:r>
              <a:rPr lang="en-US" dirty="0" smtClean="0"/>
              <a:t>False Negative (FN)</a:t>
            </a:r>
          </a:p>
          <a:p>
            <a:r>
              <a:rPr lang="en-US" dirty="0" smtClean="0"/>
              <a:t>Key metrics include:</a:t>
            </a:r>
          </a:p>
          <a:p>
            <a:r>
              <a:rPr lang="en-US" b="1" dirty="0" smtClean="0"/>
              <a:t>Accuracy</a:t>
            </a:r>
            <a:r>
              <a:rPr lang="en-US" dirty="0" smtClean="0"/>
              <a:t> – Overall correct predictions</a:t>
            </a:r>
          </a:p>
          <a:p>
            <a:r>
              <a:rPr lang="en-US" b="1" dirty="0" smtClean="0"/>
              <a:t>Precision</a:t>
            </a:r>
            <a:r>
              <a:rPr lang="en-US" dirty="0" smtClean="0"/>
              <a:t> – How many predicted positives are actually correct</a:t>
            </a:r>
          </a:p>
          <a:p>
            <a:r>
              <a:rPr lang="en-US" b="1" dirty="0" smtClean="0"/>
              <a:t>Recall</a:t>
            </a:r>
            <a:r>
              <a:rPr lang="en-US" dirty="0" smtClean="0"/>
              <a:t> – How many actual positives are correctly identified</a:t>
            </a:r>
          </a:p>
          <a:p>
            <a:r>
              <a:rPr lang="en-US" b="1" dirty="0" smtClean="0"/>
              <a:t>F1-Score</a:t>
            </a:r>
            <a:r>
              <a:rPr lang="en-US" dirty="0" smtClean="0"/>
              <a:t> – Balance between Precision and Recall</a:t>
            </a:r>
          </a:p>
          <a:p>
            <a:r>
              <a:rPr lang="en-US" dirty="0" smtClean="0"/>
              <a:t>These metrics help us understand whether the model is reliable and well-balanced.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497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1514</Words>
  <Application>Microsoft Office PowerPoint</Application>
  <PresentationFormat>Widescreen</PresentationFormat>
  <Paragraphs>146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Unicode MS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Vaishnavi Jadhav</dc:creator>
  <cp:lastModifiedBy>Vaishnavi Jadhav</cp:lastModifiedBy>
  <cp:revision>2</cp:revision>
  <dcterms:created xsi:type="dcterms:W3CDTF">2026-02-23T10:03:30Z</dcterms:created>
  <dcterms:modified xsi:type="dcterms:W3CDTF">2026-02-23T10:06:15Z</dcterms:modified>
</cp:coreProperties>
</file>