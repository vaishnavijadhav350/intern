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9" r:id="rId2"/>
    <p:sldId id="260" r:id="rId3"/>
    <p:sldId id="261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343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683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743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968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933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322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963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257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287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657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645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537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279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745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597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208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136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D74747F-D400-4A90-89D9-3448D815F5DF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CBD23B7-B658-4DB1-A8C7-598E26C86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175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76521" y="3180323"/>
            <a:ext cx="77475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Python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Basics</a:t>
            </a:r>
          </a:p>
          <a:p>
            <a:pPr algn="just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Learned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&amp; data types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store values like numbers,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text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true/false. </a:t>
            </a: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Used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(+, -, *, /) → perform calculations. </a:t>
            </a: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Understood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if-else statements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used for decision making in programs.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95495" y="1613913"/>
            <a:ext cx="391057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2382" y="491319"/>
            <a:ext cx="1398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Week 1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41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389991" y="1489653"/>
            <a:ext cx="6769802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oops (for, while)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 tasks multiple times automatically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DataStructure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help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 and managing data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stores multiple values in one variable.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similar to list but values cannot be changed.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stores data in key-value pairs.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stores unique values only (no duplicates). </a:t>
            </a:r>
          </a:p>
        </p:txBody>
      </p:sp>
    </p:spTree>
    <p:extLst>
      <p:ext uri="{BB962C8B-B14F-4D97-AF65-F5344CB8AC3E}">
        <p14:creationId xmlns:p14="http://schemas.microsoft.com/office/powerpoint/2010/main" val="113396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02535" y="1483453"/>
            <a:ext cx="1817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23929" y="437322"/>
            <a:ext cx="2199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Week 2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883382" y="2241267"/>
            <a:ext cx="7980236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Functions are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reusable blocks of code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to perform specific tasks.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Defined using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keyword → helps in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organizing code properly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calls help in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executing code multiple times without rewriting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repetition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improves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readability &amp; modularity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calls itself to solve smaller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subproblems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Lambda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anonymous one-line function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simple operations without using def. </a:t>
            </a:r>
          </a:p>
        </p:txBody>
      </p:sp>
    </p:spTree>
    <p:extLst>
      <p:ext uri="{BB962C8B-B14F-4D97-AF65-F5344CB8AC3E}">
        <p14:creationId xmlns:p14="http://schemas.microsoft.com/office/powerpoint/2010/main" val="301652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641655" y="2599414"/>
            <a:ext cx="71783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Modules help organize Python code into separate files for better structure and maintainability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how packages group multiple modules together and how the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__init__.py file defines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103867" y="940904"/>
            <a:ext cx="425394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&amp; Packages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263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16696" y="1749287"/>
            <a:ext cx="825610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 (OOP) is a programming approach where programs are designed using classes and objects.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like a blueprint or template, and an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real example created from that class.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Objects contain data (attributes) and functions (methods).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important OOP concepts such as: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one class can use the properties and methods of another class.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same method can perform different actions in different situations.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OOP helps in writing organized, reusable, and easy-to-manage code.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16696" y="954157"/>
            <a:ext cx="8534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Object-Oriented Programming (OOP)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7913" y="356537"/>
            <a:ext cx="2597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 3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07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90192" y="1987826"/>
            <a:ext cx="768626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 stands for Graphical User Interface. It allows users to interact with applications using buttons, text boxes, and labels instead of typing commands.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GUI development using the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in Python.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practiced using widgets like labels, buttons, and entry fields.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also understood event handling, where clicking a button triggers a specific function.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helped me move from basic console programs to interactive graphical applications.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77548" y="808383"/>
            <a:ext cx="7911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GUI Development using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733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2957" y="2252869"/>
            <a:ext cx="76067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this week, I started working on the “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EduTrack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project.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applied programming concepts to design and implement the project logic.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tested the program step by step and fixed errors through debugging.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practical experience helped me understand real-world project development and improved my problem-solving skills.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78695" y="887944"/>
            <a:ext cx="62152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Implementation –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EduTrack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47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22714" y="2319130"/>
            <a:ext cx="80970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Week 4, I started learning about Python libraries used for data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library used for numerical computing. It works with arrays, which are faster and more efficient than normal Python lists.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how to create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arrays and perform operations like indexing and slicing.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also practiced basic mathematical operations on arrays.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helps in handling large amounts of numerical data efficiently.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76800" y="954156"/>
            <a:ext cx="4704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70922" y="331304"/>
            <a:ext cx="2305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 4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32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2958" y="2623930"/>
            <a:ext cx="7924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about Pandas, a powerful library used for data analysis and data manipulation.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Pandas provides a structure called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which looks like a table with rows and columns.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practiced loading datasets, checking missing values, cleaning data, and organizing information.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helped me understand how real-world data is prepared before analysis.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87149" y="1245704"/>
            <a:ext cx="7116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Pandas &amp; Data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302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69705" y="2663687"/>
            <a:ext cx="71694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this week, I applied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Pandas on different datasets.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practiced filtering, sorting, and selecting specific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also learned how to analyze and summarize data using built-in functions.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improved my data handling skills and strengthened my understanding of data analysis concepts.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06956" y="1166192"/>
            <a:ext cx="5234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&amp;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838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4748" y="2332382"/>
            <a:ext cx="69573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Week 5, I started learning about data visualization.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helps in representing data in graphical form, which makes it easier to understand patterns and trends.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to use the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to create basic graphs such as line plots and bar charts.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helped me understand how visual representation makes data analysis clearer and more meaningful.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97425" y="1391479"/>
            <a:ext cx="8878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Data Visualization with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97425" y="477078"/>
            <a:ext cx="2504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 5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038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27512" y="2332382"/>
            <a:ext cx="70899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also learned about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an advanced data visualization library built on top of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more attractive and informative statistical graphs.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practiced creating histograms, pie charts, and other visual plots to better understand data distribution and relationships.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improved my ability to present data in a professional way.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72676" y="1007164"/>
            <a:ext cx="6599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Visualization using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920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94383" y="2955234"/>
            <a:ext cx="69772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this week, I applied visualization techniques to real datasets.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how to choose the correct type of graph based on the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analyzed patterns, trends, and comparisons using different charts.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experience improved my analytical thinking and presentation skills.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10608" y="1470993"/>
            <a:ext cx="6361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Visualization on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341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1009" y="2464905"/>
            <a:ext cx="73947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Week 6, I was introduced to the basics of Machine Learning.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is a part of Artificial Intelligence where systems learn from data and make predictions or decisions without being explicitly programmed.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understood the difference between AI and ML, where AI is a broader concept and ML is a subset of AI.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week helped me understand how machines learn from data.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56382" y="1470991"/>
            <a:ext cx="6639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Machine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01009" y="384313"/>
            <a:ext cx="1643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 6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07896" y="384313"/>
            <a:ext cx="2451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Month 2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794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06417" y="2266122"/>
            <a:ext cx="759349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about the three main types of Machine Learning: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model is trained using labeled data (input and correct output).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model finds patterns in unlabeled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model learns through rewards and penalties.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types helped me identify where each method is used in real-world applications.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02155" y="914401"/>
            <a:ext cx="6202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Machine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540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55235" y="2146852"/>
            <a:ext cx="679836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Times New Roman" panose="02020603050405020304" pitchFamily="18" charset="0"/>
              <a:buChar char="‾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studied the basic steps involved in building a Machine Learning model: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pPr marL="342900" indent="-342900" algn="just">
              <a:buFont typeface="Times New Roman" panose="02020603050405020304" pitchFamily="18" charset="0"/>
              <a:buChar char="‾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this workflow ensures that the model is accurate and reliable.</a:t>
            </a:r>
          </a:p>
          <a:p>
            <a:pPr marL="342900" indent="-342900" algn="just">
              <a:buFont typeface="Times New Roman" panose="02020603050405020304" pitchFamily="18" charset="0"/>
              <a:buChar char="‾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week built a strong foundation for advanced ML concepts.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11826" y="874644"/>
            <a:ext cx="56851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124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9948" y="1643269"/>
            <a:ext cx="79645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Machine Learning, data cannot be used directly. The first step is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 helps bring large and small values into the same range.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data into a range between 0 and 1.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data so that the mean becomes 0 and the standard deviation becomes 1.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Encoding is used to convert categorical data into numerical form.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Label Encoding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assigns a unique number to each category.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Hot Encoding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separate binary columns for each category.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makes the model faster and more accurate.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76870" y="821635"/>
            <a:ext cx="5353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31165" y="92765"/>
            <a:ext cx="24914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 7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714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02226" y="2438399"/>
            <a:ext cx="723568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is used to predict continuous values, such as house prices.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finds a straight-line relationship between independent and dependent variables.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Linear Regression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uses more than one independent variable for prediction.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non-linear (curved) relationships.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of regression is to find the best-fit line that minimizes prediction error.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59964" y="1073426"/>
            <a:ext cx="4320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453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16696" y="1298713"/>
            <a:ext cx="824285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building a model, it is important to measure its performance.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regression, we use: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MAE (Mean Absolute Error)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average prediction error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MSE (Mean Squared Error)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squared error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square root of MSE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shows how much variance the model explains</a:t>
            </a:r>
          </a:p>
          <a:p>
            <a:pPr algn="just"/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validation: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divides data into training and testing sets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Cross Validation (Holdout Method)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checks how well the model generalizes to new data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helps us understand whether the model is overfitting or performing properly.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76870" y="410818"/>
            <a:ext cx="5512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989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9826" y="1868556"/>
            <a:ext cx="77922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Machine Learning, model performance depends on how well it generalizes to new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occurs when a model performs very well on training data but poorly on unseen data. It captures noise instead of the actual pattern.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Underfitting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happens when a model is too simple and fails to capture the underlying relationship in the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overfitting, we use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 techniques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(L2)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large coefficients.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Lasso Regression (L1)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can shrink some coefficients to zero, helping in feature selection.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improve model generalization.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54017" y="901148"/>
            <a:ext cx="6983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Overfitting,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Underfitting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8000" y="212035"/>
            <a:ext cx="2464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 8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226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41983" y="2027581"/>
            <a:ext cx="79513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is a supervised learning technique used to predict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outcomes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Yes/No, Pass/Fail, Spam/Not Spam.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most important classification algorithms is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Unlike Linear Regression, Logistic Regression uses a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sigmoid function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convert output into probability values between 0 and 1.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a threshold (usually 0.5), the model assigns a class label.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because it is simple, efficient, and interpretable.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41983" y="914399"/>
            <a:ext cx="8375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Classification &amp; Logistic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322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08242" y="437322"/>
            <a:ext cx="2464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 9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014330" y="1793908"/>
            <a:ext cx="781496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Regression Concepts</a:t>
            </a:r>
            <a:r>
              <a:rPr kumimoji="0" lang="en-US" altLang="en-US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models more complex relationships than linear regression by using curve fitting.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 Techniques: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help control the model and reduce overfitting.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014330" y="3825234"/>
            <a:ext cx="691952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Concepts: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Concepts: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involves dividing data into different categories (e.g., spam / not spam).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classification and provides probability-based outputs.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497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08242" y="437322"/>
            <a:ext cx="2464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279373" y="1631500"/>
            <a:ext cx="730194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Data Preprocessing &amp; Regression</a:t>
            </a:r>
          </a:p>
          <a:p>
            <a:r>
              <a:rPr lang="en-US" b="1" dirty="0"/>
              <a:t>Feature Scaling &amp; Encoding Techniques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Used to prepare data by normalizing numerical values (feature scaling) and converting categorical data into numerical form using encoding techniques like </a:t>
            </a:r>
            <a:r>
              <a:rPr lang="en-US" b="1" dirty="0"/>
              <a:t>Label Encoding</a:t>
            </a:r>
            <a:r>
              <a:rPr lang="en-US" dirty="0"/>
              <a:t> and </a:t>
            </a:r>
            <a:r>
              <a:rPr lang="en-US" b="1" dirty="0"/>
              <a:t>One-Hot Encoding</a:t>
            </a:r>
            <a:r>
              <a:rPr lang="en-US" dirty="0"/>
              <a:t>, which helps improve model performance. </a:t>
            </a:r>
          </a:p>
          <a:p>
            <a:r>
              <a:rPr lang="en-US" b="1" dirty="0"/>
              <a:t>Linear &amp; Multiple Regression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Used to predict output values based on one (linear) or more (multiple) input variables, helping to understand relationships between variables. </a:t>
            </a:r>
          </a:p>
          <a:p>
            <a:r>
              <a:rPr lang="en-US" b="1" dirty="0"/>
              <a:t>Polynomial Regression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Used to model complex relationships by fitting a curved line instead of a straight line, which improves prediction accuracy when data is non-linear.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71722" y="569843"/>
            <a:ext cx="2054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Month 3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751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31166" y="2027583"/>
            <a:ext cx="68116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 Improvement &amp; Classification</a:t>
            </a:r>
          </a:p>
          <a:p>
            <a:r>
              <a:rPr lang="en-US" b="1" dirty="0"/>
              <a:t>Regularization &amp; Cross-Validation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Techniques used to improve model performance by reducing overfitting. Regularization controls model complexity, while cross-validation ensures the model performs well on unseen data. </a:t>
            </a:r>
          </a:p>
          <a:p>
            <a:r>
              <a:rPr lang="en-US" b="1" dirty="0"/>
              <a:t>Overfitting &amp; </a:t>
            </a:r>
            <a:r>
              <a:rPr lang="en-US" b="1" dirty="0" err="1"/>
              <a:t>Underfitting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Overfitting occurs when a model learns too much from training data and fails on new data, while </a:t>
            </a:r>
            <a:r>
              <a:rPr lang="en-US" dirty="0" err="1"/>
              <a:t>underfitting</a:t>
            </a:r>
            <a:r>
              <a:rPr lang="en-US" dirty="0"/>
              <a:t> happens when the model is too simple to capture important patterns. </a:t>
            </a:r>
          </a:p>
          <a:p>
            <a:r>
              <a:rPr lang="en-US" b="1" dirty="0"/>
              <a:t>Logistic Regression &amp; Evaluation Methods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Logistic regression is used for classification problems and provides probability-based outputs. Evaluation methods like accuracy and confusion matrix help measure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1914888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08242" y="437322"/>
            <a:ext cx="2464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03443" y="1828800"/>
            <a:ext cx="73549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Decision Tree Basics &amp; Splitting</a:t>
            </a:r>
          </a:p>
          <a:p>
            <a:r>
              <a:rPr lang="en-US" b="1" dirty="0"/>
              <a:t>Decision Tree Concept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A tree-based model used for classification and prediction, where data is split into branches based on conditions. </a:t>
            </a:r>
          </a:p>
          <a:p>
            <a:r>
              <a:rPr lang="en-US" b="1" dirty="0"/>
              <a:t>Entropy in Decision Tree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Measures impurity or randomness in data, helping to select the best feature for splitting. </a:t>
            </a:r>
          </a:p>
          <a:p>
            <a:r>
              <a:rPr lang="en-US" b="1" dirty="0"/>
              <a:t>Gini Index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Another impurity measure used to evaluate how well data is split into different classes.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162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03443" y="1828800"/>
            <a:ext cx="73549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Pruning &amp; Model Understanding</a:t>
            </a:r>
          </a:p>
          <a:p>
            <a:r>
              <a:rPr lang="en-US" b="1" dirty="0"/>
              <a:t>Pruning Techniques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Used to simplify the tree by removing unnecessary branches, which reduces overfitting and improves performance. </a:t>
            </a:r>
          </a:p>
          <a:p>
            <a:r>
              <a:rPr lang="en-US" b="1" dirty="0"/>
              <a:t>Types of Pruning</a:t>
            </a:r>
            <a:r>
              <a:rPr lang="en-US" dirty="0"/>
              <a:t> – </a:t>
            </a:r>
          </a:p>
          <a:p>
            <a:pPr lvl="1"/>
            <a:r>
              <a:rPr lang="en-US" b="1" dirty="0"/>
              <a:t>Pre-Pruning</a:t>
            </a:r>
            <a:r>
              <a:rPr lang="en-US" dirty="0"/>
              <a:t> – Stops tree growth early based on conditions. </a:t>
            </a:r>
          </a:p>
          <a:p>
            <a:pPr lvl="1"/>
            <a:r>
              <a:rPr lang="en-US" b="1" dirty="0"/>
              <a:t>Post-Pruning</a:t>
            </a:r>
            <a:r>
              <a:rPr lang="en-US" dirty="0"/>
              <a:t> – Removes extra branches after full tree creation. </a:t>
            </a:r>
          </a:p>
          <a:p>
            <a:r>
              <a:rPr lang="en-US" b="1" dirty="0"/>
              <a:t>Decision Tree Revision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Reviewed all concepts to strengthen understanding and improve overall clarity</a:t>
            </a:r>
          </a:p>
        </p:txBody>
      </p:sp>
    </p:spTree>
    <p:extLst>
      <p:ext uri="{BB962C8B-B14F-4D97-AF65-F5344CB8AC3E}">
        <p14:creationId xmlns:p14="http://schemas.microsoft.com/office/powerpoint/2010/main" val="2133620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02226" y="1895061"/>
            <a:ext cx="70236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KNN </a:t>
            </a:r>
            <a:r>
              <a:rPr lang="en-US" b="1" dirty="0"/>
              <a:t>(K-Nearest Neighbors</a:t>
            </a:r>
            <a:r>
              <a:rPr lang="en-US" b="1" dirty="0" smtClean="0"/>
              <a:t>)</a:t>
            </a:r>
          </a:p>
          <a:p>
            <a:endParaRPr lang="en-US" b="1" dirty="0"/>
          </a:p>
          <a:p>
            <a:r>
              <a:rPr lang="en-US" b="1" dirty="0"/>
              <a:t>K-Nearest Neighbors (KNN)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A distance-based algorithm used for classification, where a data point is classified based on the majority class of its nearest neighbors. </a:t>
            </a:r>
          </a:p>
          <a:p>
            <a:r>
              <a:rPr lang="en-US" b="1" dirty="0"/>
              <a:t>Distance Calculation Techniques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KNN uses distance measures like </a:t>
            </a:r>
            <a:r>
              <a:rPr lang="en-US" b="1" dirty="0"/>
              <a:t>Euclidean Distance</a:t>
            </a:r>
            <a:r>
              <a:rPr lang="en-US" dirty="0"/>
              <a:t> and </a:t>
            </a:r>
            <a:r>
              <a:rPr lang="en-US" b="1" dirty="0"/>
              <a:t>Manhattan Distance</a:t>
            </a:r>
            <a:r>
              <a:rPr lang="en-US" dirty="0"/>
              <a:t> to find the closest data points. </a:t>
            </a:r>
          </a:p>
          <a:p>
            <a:r>
              <a:rPr lang="en-US" b="1" dirty="0"/>
              <a:t>Choosing K Value</a:t>
            </a:r>
            <a:r>
              <a:rPr lang="en-US" dirty="0"/>
              <a:t> –</a:t>
            </a:r>
            <a:br>
              <a:rPr lang="en-US" dirty="0"/>
            </a:br>
            <a:r>
              <a:rPr lang="en-US" dirty="0"/>
              <a:t>The value of </a:t>
            </a:r>
            <a:r>
              <a:rPr lang="en-US" i="1" dirty="0"/>
              <a:t>K</a:t>
            </a:r>
            <a:r>
              <a:rPr lang="en-US" dirty="0"/>
              <a:t> (number of neighbors) is important, as a small K can cause overfitting and a large K can reduce accuracy.</a:t>
            </a: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902226" y="993913"/>
            <a:ext cx="4174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 12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498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03444" y="1298713"/>
            <a:ext cx="685137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SVM (Support Vector Machine</a:t>
            </a:r>
            <a:r>
              <a:rPr lang="en-IN" b="1" dirty="0" smtClean="0"/>
              <a:t>)</a:t>
            </a:r>
          </a:p>
          <a:p>
            <a:endParaRPr lang="en-IN" b="1" dirty="0"/>
          </a:p>
          <a:p>
            <a:r>
              <a:rPr lang="en-IN" b="1" dirty="0"/>
              <a:t>Support Vector Machine (SVM)</a:t>
            </a:r>
            <a:r>
              <a:rPr lang="en-IN" dirty="0"/>
              <a:t> –</a:t>
            </a:r>
            <a:br>
              <a:rPr lang="en-IN" dirty="0"/>
            </a:br>
            <a:r>
              <a:rPr lang="en-IN" dirty="0"/>
              <a:t>A powerful classification algorithm that finds the best boundary (hyperplane) to separate different classes. </a:t>
            </a:r>
          </a:p>
          <a:p>
            <a:r>
              <a:rPr lang="en-IN" b="1" dirty="0"/>
              <a:t>Kernel Techniques</a:t>
            </a:r>
            <a:r>
              <a:rPr lang="en-IN" dirty="0"/>
              <a:t> –</a:t>
            </a:r>
            <a:br>
              <a:rPr lang="en-IN" dirty="0"/>
            </a:br>
            <a:r>
              <a:rPr lang="en-IN" dirty="0"/>
              <a:t>Kernels help to handle complex data by transforming it into higher dimensions. Common types include: </a:t>
            </a:r>
          </a:p>
          <a:p>
            <a:pPr lvl="1"/>
            <a:r>
              <a:rPr lang="en-IN" b="1" dirty="0"/>
              <a:t>Linear Kernel</a:t>
            </a:r>
            <a:r>
              <a:rPr lang="en-IN" dirty="0"/>
              <a:t> </a:t>
            </a:r>
          </a:p>
          <a:p>
            <a:pPr lvl="1"/>
            <a:r>
              <a:rPr lang="en-IN" b="1" dirty="0"/>
              <a:t>Polynomial Kernel</a:t>
            </a:r>
            <a:r>
              <a:rPr lang="en-IN" dirty="0"/>
              <a:t> </a:t>
            </a:r>
          </a:p>
          <a:p>
            <a:pPr lvl="1"/>
            <a:r>
              <a:rPr lang="en-IN" b="1" dirty="0"/>
              <a:t>RBF (Radial Basis Function) Kernel</a:t>
            </a:r>
            <a:r>
              <a:rPr lang="en-IN" dirty="0"/>
              <a:t> </a:t>
            </a:r>
          </a:p>
          <a:p>
            <a:r>
              <a:rPr lang="en-IN" b="1" dirty="0"/>
              <a:t>Model Improvement (SVM)</a:t>
            </a:r>
            <a:r>
              <a:rPr lang="en-IN" dirty="0"/>
              <a:t> –</a:t>
            </a:r>
            <a:br>
              <a:rPr lang="en-IN" dirty="0"/>
            </a:br>
            <a:r>
              <a:rPr lang="en-IN" dirty="0"/>
              <a:t>Proper kernel selection and parameter tuning help improve model performance and accuracy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8552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15479" y="2425147"/>
            <a:ext cx="62947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Revision: Decision Tree, KNN &amp; SVM</a:t>
            </a:r>
          </a:p>
          <a:p>
            <a:r>
              <a:rPr lang="en-IN" b="1" dirty="0"/>
              <a:t>Decision Tree:</a:t>
            </a:r>
            <a:r>
              <a:rPr lang="en-IN" dirty="0"/>
              <a:t> Data conditions </a:t>
            </a:r>
            <a:r>
              <a:rPr lang="en-IN" dirty="0" err="1"/>
              <a:t>var</a:t>
            </a:r>
            <a:r>
              <a:rPr lang="en-IN" dirty="0"/>
              <a:t> split </a:t>
            </a:r>
            <a:r>
              <a:rPr lang="en-IN" dirty="0" err="1"/>
              <a:t>hote</a:t>
            </a:r>
            <a:r>
              <a:rPr lang="en-IN" dirty="0"/>
              <a:t> using entropy &amp; information gain, easy decision making </a:t>
            </a:r>
            <a:r>
              <a:rPr lang="en-IN" dirty="0" err="1"/>
              <a:t>sathi</a:t>
            </a:r>
            <a:r>
              <a:rPr lang="en-IN" dirty="0"/>
              <a:t> useful. </a:t>
            </a:r>
          </a:p>
          <a:p>
            <a:r>
              <a:rPr lang="en-IN" b="1" dirty="0"/>
              <a:t>KNN:</a:t>
            </a:r>
            <a:r>
              <a:rPr lang="en-IN" dirty="0"/>
              <a:t> Nearest </a:t>
            </a:r>
            <a:r>
              <a:rPr lang="en-IN" dirty="0" err="1"/>
              <a:t>neighbors</a:t>
            </a:r>
            <a:r>
              <a:rPr lang="en-IN" dirty="0"/>
              <a:t> </a:t>
            </a:r>
            <a:r>
              <a:rPr lang="en-IN" dirty="0" err="1"/>
              <a:t>chya</a:t>
            </a:r>
            <a:r>
              <a:rPr lang="en-IN" dirty="0"/>
              <a:t> base </a:t>
            </a:r>
            <a:r>
              <a:rPr lang="en-IN" dirty="0" err="1"/>
              <a:t>var</a:t>
            </a:r>
            <a:r>
              <a:rPr lang="en-IN" dirty="0"/>
              <a:t> classification </a:t>
            </a:r>
            <a:r>
              <a:rPr lang="en-IN" dirty="0" err="1"/>
              <a:t>karto</a:t>
            </a:r>
            <a:r>
              <a:rPr lang="en-IN" dirty="0"/>
              <a:t> using distance measures. </a:t>
            </a:r>
          </a:p>
          <a:p>
            <a:r>
              <a:rPr lang="en-IN" b="1" dirty="0"/>
              <a:t>SVM:</a:t>
            </a:r>
            <a:r>
              <a:rPr lang="en-IN" dirty="0"/>
              <a:t> Data la best boundary (hyperplane) ne separate </a:t>
            </a:r>
            <a:r>
              <a:rPr lang="en-IN" dirty="0" err="1"/>
              <a:t>karto</a:t>
            </a:r>
            <a:r>
              <a:rPr lang="en-IN" dirty="0"/>
              <a:t> for accurate classification.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2994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3287" y="1630017"/>
            <a:ext cx="60429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Introduction to Probability</a:t>
            </a:r>
          </a:p>
          <a:p>
            <a:r>
              <a:rPr lang="en-US" dirty="0"/>
              <a:t>Probability is used to </a:t>
            </a:r>
            <a:r>
              <a:rPr lang="en-US" b="1" dirty="0"/>
              <a:t>handle uncertainty</a:t>
            </a:r>
            <a:r>
              <a:rPr lang="en-US" dirty="0"/>
              <a:t> in data. </a:t>
            </a:r>
          </a:p>
          <a:p>
            <a:r>
              <a:rPr lang="en-US" dirty="0"/>
              <a:t>It tells the </a:t>
            </a:r>
            <a:r>
              <a:rPr lang="en-US" b="1" dirty="0"/>
              <a:t>chance of an event occurring (0 to 1)</a:t>
            </a:r>
            <a:r>
              <a:rPr lang="en-US" dirty="0"/>
              <a:t>. </a:t>
            </a:r>
          </a:p>
          <a:p>
            <a:r>
              <a:rPr lang="en-US" dirty="0"/>
              <a:t>0 = impossible event, 1 = certain event. </a:t>
            </a:r>
          </a:p>
          <a:p>
            <a:r>
              <a:rPr lang="en-US" dirty="0"/>
              <a:t>In Machine Learning, it helps in </a:t>
            </a:r>
            <a:r>
              <a:rPr lang="en-US" b="1" dirty="0"/>
              <a:t>making predictions</a:t>
            </a:r>
            <a:r>
              <a:rPr lang="en-US" dirty="0"/>
              <a:t>. </a:t>
            </a:r>
          </a:p>
          <a:p>
            <a:r>
              <a:rPr lang="en-US" dirty="0"/>
              <a:t>Used to take </a:t>
            </a:r>
            <a:r>
              <a:rPr lang="en-US" b="1" dirty="0"/>
              <a:t>better decisions based on data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7563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79304" y="2001078"/>
            <a:ext cx="5791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of Probability</a:t>
            </a:r>
          </a:p>
          <a:p>
            <a:r>
              <a:rPr lang="en-US" dirty="0"/>
              <a:t>Example: Tossing a coin 🎲 </a:t>
            </a:r>
          </a:p>
          <a:p>
            <a:r>
              <a:rPr lang="en-US" dirty="0"/>
              <a:t>There are </a:t>
            </a:r>
            <a:r>
              <a:rPr lang="en-US" b="1" dirty="0"/>
              <a:t>2 possible outcomes</a:t>
            </a:r>
            <a:r>
              <a:rPr lang="en-US" dirty="0"/>
              <a:t> → Head or Tail </a:t>
            </a:r>
          </a:p>
          <a:p>
            <a:r>
              <a:rPr lang="en-US" dirty="0"/>
              <a:t>Probability of Head = </a:t>
            </a:r>
            <a:r>
              <a:rPr lang="en-US" b="1" dirty="0"/>
              <a:t>1/2 = 0.5</a:t>
            </a:r>
            <a:r>
              <a:rPr lang="en-US" dirty="0"/>
              <a:t> </a:t>
            </a:r>
          </a:p>
          <a:p>
            <a:r>
              <a:rPr lang="en-US" dirty="0"/>
              <a:t>Probability of Tail = </a:t>
            </a:r>
            <a:r>
              <a:rPr lang="en-US" b="1" dirty="0"/>
              <a:t>1/2 = 0.5</a:t>
            </a:r>
            <a:r>
              <a:rPr lang="en-US" dirty="0"/>
              <a:t> </a:t>
            </a:r>
          </a:p>
          <a:p>
            <a:r>
              <a:rPr lang="en-US" dirty="0"/>
              <a:t>ML uses such probabilities to </a:t>
            </a:r>
            <a:r>
              <a:rPr lang="en-US" b="1" dirty="0"/>
              <a:t>predict outcomes in real problems</a:t>
            </a:r>
            <a:r>
              <a:rPr lang="en-US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31168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246</TotalTime>
  <Words>1752</Words>
  <Application>Microsoft Office PowerPoint</Application>
  <PresentationFormat>Widescreen</PresentationFormat>
  <Paragraphs>208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Corbel</vt:lpstr>
      <vt:lpstr>Times New Roman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Vaishnavi Jadhav</dc:creator>
  <cp:lastModifiedBy>Vaishnavi Jadhav</cp:lastModifiedBy>
  <cp:revision>24</cp:revision>
  <dcterms:created xsi:type="dcterms:W3CDTF">2026-02-23T10:03:30Z</dcterms:created>
  <dcterms:modified xsi:type="dcterms:W3CDTF">2026-04-07T18:25:45Z</dcterms:modified>
</cp:coreProperties>
</file>